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d16e04b-4e1e-5118-556f-2252c70bf92a}">
          <p14:sldIdLst>
            <p14:sldId id="256"/>
            <p14:sldId id="257"/>
            <p14:sldId id="258"/>
          </p14:sldIdLst>
        </p14:section>
        <p14:section name="Phase A: Weighting" id="{1e19a794-30fd-a529-d0e2-3bc5e3616690}">
          <p14:sldIdLst>
            <p14:sldId id="259"/>
          </p14:sldIdLst>
        </p14:section>
        <p14:section name="Phase B: Granulation" id="{dc264f0c-8a4f-ba36-d971-55c966ad7fe3}">
          <p14:sldIdLst>
            <p14:sldId id="260"/>
          </p14:sldIdLst>
        </p14:section>
        <p14:section name="Phase C: Theory" id="{c92382fa-07c7-0263-bea6-202d409d23ea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Status and next steps" id="{649e262d-bd97-7c78-958c-6e864356d4fe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32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324A"/>
                </a:solidFill>
                <a:latin typeface="+mn-lt"/>
              </a:rPr>
              <a:t>Angle to RAW solution (degrees), partition path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θ unscaled</c:v>
                </c:pt>
              </c:strCache>
            </c:strRef>
          </c:tx>
          <c:spPr>
            <a:solidFill>
              <a:srgbClr val="1F6F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FULL</c:v>
                  </c:pt>
                  <c:pt idx="1">
                    <c:v>DIAG</c:v>
                  </c:pt>
                  <c:pt idx="2">
                    <c:v>L1</c:v>
                  </c:pt>
                  <c:pt idx="3">
                    <c:v>L0</c:v>
                  </c:pt>
                  <c:pt idx="4">
                    <c:v>ISO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18.3</c:v>
                </c:pt>
                <c:pt idx="2">
                  <c:v>23.6</c:v>
                </c:pt>
                <c:pt idx="3">
                  <c:v>28.8</c:v>
                </c:pt>
                <c:pt idx="4">
                  <c:v>40.6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Mean θ standardized</c:v>
                </c:pt>
              </c:strCache>
            </c:strRef>
          </c:tx>
          <c:spPr>
            <a:solidFill>
              <a:srgbClr val="E07A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FULL</c:v>
                  </c:pt>
                  <c:pt idx="1">
                    <c:v>DIAG</c:v>
                  </c:pt>
                  <c:pt idx="2">
                    <c:v>L1</c:v>
                  </c:pt>
                  <c:pt idx="3">
                    <c:v>L0</c:v>
                  </c:pt>
                  <c:pt idx="4">
                    <c:v>ISO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28.8</c:v>
                </c:pt>
                <c:pt idx="2">
                  <c:v>38.5</c:v>
                </c:pt>
                <c:pt idx="3">
                  <c:v>46.2</c:v>
                </c:pt>
                <c:pt idx="4">
                  <c:v>36.8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32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324A"/>
                </a:solidFill>
                <a:latin typeface="+mn-lt"/>
              </a:rPr>
              <a:t>Test macro-F1, 17 datasets × 10 seeds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macro-F1</c:v>
                </c:pt>
              </c:strCache>
            </c:strRef>
          </c:tx>
          <c:spPr>
            <a:solidFill>
              <a:srgbClr val="1F6F8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RAW</c:v>
                  </c:pt>
                  <c:pt idx="1">
                    <c:v>D_FULL</c:v>
                  </c:pt>
                  <c:pt idx="2">
                    <c:v>P_L1</c:v>
                  </c:pt>
                  <c:pt idx="3">
                    <c:v>D_L1</c:v>
                  </c:pt>
                  <c:pt idx="4">
                    <c:v>P_L0</c:v>
                  </c:pt>
                  <c:pt idx="5">
                    <c:v>Published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0.785</c:v>
                </c:pt>
                <c:pt idx="1">
                  <c:v>0.775</c:v>
                </c:pt>
                <c:pt idx="2">
                  <c:v>0.757</c:v>
                </c:pt>
                <c:pt idx="3">
                  <c:v>0.727</c:v>
                </c:pt>
                <c:pt idx="4">
                  <c:v>0.725</c:v>
                </c:pt>
                <c:pt idx="5">
                  <c:v>0.714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2"/>
          <c:min val="0.6"/>
        </c:scaling>
        <c:delete val="0"/>
        <c:axPos val="b"/>
        <c:majorGridlines>
          <c:spPr>
            <a:ln w="635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pipeline has four stages. Step 2, ball deletion, later turned out to matter a 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Extending Granular-Ball LSTSVM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Midsem progress report: from heuristic fixes to a sufficient-statistic account of granular balls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BharatSOP research project ·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we set out to improve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GBLSTSVM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Replaces training samples with granular balls (center + radius), then solves a least-squares twin SVM on the balls.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Original question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we make ball construction and ball weighting more reliable under class imbalance, sparse minority support and unstable topology?</a:t>
            </a:r>
            <a:endParaRPr lang="en-US" sz="1600" dirty="0"/>
          </a:p>
        </p:txBody>
      </p:sp>
      <p:sp>
        <p:nvSpPr>
          <p:cNvPr id="4" name="pipeline 0"/>
          <p:cNvSpPr/>
          <p:nvPr/>
        </p:nvSpPr>
        <p:spPr>
          <a:xfrm>
            <a:off x="6400800" y="1371600"/>
            <a:ext cx="52120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6184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3716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Granulate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KMeans(k=2) splits until purity ≥ ρ</a:t>
            </a:r>
            <a:endParaRPr lang="en-US" sz="1400" dirty="0"/>
          </a:p>
        </p:txBody>
      </p:sp>
      <p:sp>
        <p:nvSpPr>
          <p:cNvPr id="8" name="pipeline 1"/>
          <p:cNvSpPr/>
          <p:nvPr/>
        </p:nvSpPr>
        <p:spPr>
          <a:xfrm>
            <a:off x="6400800" y="25603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BE9DD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8072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56032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del_ball drops balls with n &lt; 2</a:t>
            </a:r>
            <a:endParaRPr lang="en-US" sz="1400" dirty="0"/>
          </a:p>
        </p:txBody>
      </p:sp>
      <p:sp>
        <p:nvSpPr>
          <p:cNvPr id="12" name="pipeline 2"/>
          <p:cNvSpPr/>
          <p:nvPr/>
        </p:nvSpPr>
        <p:spPr>
          <a:xfrm>
            <a:off x="6400800" y="3749040"/>
            <a:ext cx="52120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39959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74904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 / Topo / reliability weights</a:t>
            </a:r>
            <a:endParaRPr lang="en-US" sz="1400" dirty="0"/>
          </a:p>
        </p:txBody>
      </p:sp>
      <p:sp>
        <p:nvSpPr>
          <p:cNvPr id="16" name="pipeline 3"/>
          <p:cNvSpPr/>
          <p:nvPr/>
        </p:nvSpPr>
        <p:spPr>
          <a:xfrm>
            <a:off x="6400800" y="4937760"/>
            <a:ext cx="521208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51846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493776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Classify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Twin LSTSVM on ball centers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Eight research sessions, three phases</a:t>
            </a:r>
            <a:endParaRPr lang="en-US" sz="3200" dirty="0"/>
          </a:p>
        </p:txBody>
      </p:sp>
      <p:sp>
        <p:nvSpPr>
          <p:cNvPr id="3" name="card Phase A · Sessions 1–3"/>
          <p:cNvSpPr/>
          <p:nvPr/>
        </p:nvSpPr>
        <p:spPr>
          <a:xfrm>
            <a:off x="54864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19072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600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Phase A · Sessions 1–3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3063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Weighting extensions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Reproduced GBLSTSVM; built CW, R, CR, CA, BMRU, OBRU, Topo and SupportAware-Topo weighting.</a:t>
            </a:r>
            <a:endParaRPr lang="en-US" sz="1400" dirty="0"/>
          </a:p>
        </p:txBody>
      </p:sp>
      <p:sp>
        <p:nvSpPr>
          <p:cNvPr id="7" name="card Phase B · Sessions 4–7"/>
          <p:cNvSpPr/>
          <p:nvPr/>
        </p:nvSpPr>
        <p:spPr>
          <a:xfrm>
            <a:off x="429768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71907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00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Phase B · Sessions 4–7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03120"/>
            <a:ext cx="3063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Granulation diagnostics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Traced failures upstream to granulation; split-utility gates, entropy schedulers, compression and re-granulation ablations.</a:t>
            </a:r>
            <a:endParaRPr lang="en-US" sz="1400" dirty="0"/>
          </a:p>
        </p:txBody>
      </p:sp>
      <p:sp>
        <p:nvSpPr>
          <p:cNvPr id="11" name="card Phase C · Session 8 + proposal"/>
          <p:cNvSpPr/>
          <p:nvPr/>
        </p:nvSpPr>
        <p:spPr>
          <a:xfrm>
            <a:off x="804672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171907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0" y="1600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Phase C · Session 8 + proposal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103120"/>
            <a:ext cx="3063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Sufficient-statistic theory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Showed that center-only balls are a lossy, quantifiable approximation of an exact, much cheaper estimator.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Each phase closed with a falsification test, and each verdict set the next question.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Phase A: weighting schemes gave weak, inconsistent gains</a:t>
            </a:r>
            <a:endParaRPr lang="en-US" sz="3200" dirty="0"/>
          </a:p>
        </p:txBody>
      </p:sp>
      <p:sp>
        <p:nvSpPr>
          <p:cNvPr id="3" name="card CW / R / CR (Sessions 1–2)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2763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508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CW / R / CR (Sessions 1–2)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 weights differed numerically from CW but rarely changed predictions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Under the frozen protocol, diabetes collapsed to majority-only predictions (minority recall 0)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 added nothing beyond class weighting</a:t>
            </a:r>
            <a:endParaRPr lang="en-US" sz="1400" dirty="0"/>
          </a:p>
        </p:txBody>
      </p:sp>
      <p:sp>
        <p:nvSpPr>
          <p:cNvPr id="7" name="card Topo / SupportAware-Topo (Session 3)"/>
          <p:cNvSpPr/>
          <p:nvPr/>
        </p:nvSpPr>
        <p:spPr>
          <a:xfrm>
            <a:off x="548640" y="374904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4005072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3886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Topo / SupportAware-Topo (Session 3)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3891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Topo helped when the ball graph was dense (vehicle0: +0.05 minority F1)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failed when opposite-class support was sparse (ecoli2: −0.22 minority F1)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Shrinking R_opp fixed the failures but erased the wins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46304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46304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Dataset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Δ G-mean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Δ minority F1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Verdict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diabetes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0.000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Neutral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vehicle0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+0.030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+0.052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Improved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ecoli2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−0.115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−0.220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Failed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D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309360" y="3108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Topo vs CA on the three Phase-7 datasets (test)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931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Lesson: the weights could not fix what granulation had already removed.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Phase B: the failure starts inside granulation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KMeans splits isolate minority mass (17 datasets, 13,654 splits)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isolated children become singletons that del_ball removes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0.864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AUROC of center-radius separation for flagging harmful splits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best AUROC for repairing singletons from parent-local features</a:t>
            </a:r>
            <a:endParaRPr lang="en-US" sz="1300" dirty="0"/>
          </a:p>
        </p:txBody>
      </p:sp>
      <p:sp>
        <p:nvSpPr>
          <p:cNvPr id="11" name="card What we tried next (Sessions 5–7)"/>
          <p:cNvSpPr/>
          <p:nvPr/>
        </p:nvSpPr>
        <p:spPr>
          <a:xfrm>
            <a:off x="548640" y="3657600"/>
            <a:ext cx="110642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91363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794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we tried next (Sessions 5–7)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297680"/>
            <a:ext cx="1060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Split-utility gates and entropy schedulers: online entropy rejected (&gt;50% collapse)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Compression at small K raised macro F1 (+0.039 vs full ρ=0.9, p=0.002), but ball ranking added little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Re-granulation vs singletons at a fixed sample budget: the gap came from class-weight semantics, not ball structure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Verdict (Session 7, CASE B): stop the granular-heuristic branch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Phase C: balls that store moments are exact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035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LSTSVM depends on the data only through second-moment sums, HᵀH and GᵀG.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If each ball stores its count, mean and scatter matrix, the solution equals the full-data solution exactly, for any granulation.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published GBLSTSVM keeps only center and radius, so it discards within-ball scatter.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371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Information ladder of ball summaries</a:t>
            </a:r>
            <a:endParaRPr lang="en-US" sz="1600" dirty="0"/>
          </a:p>
        </p:txBody>
      </p:sp>
      <p:sp>
        <p:nvSpPr>
          <p:cNvPr id="5" name="ladder L0"/>
          <p:cNvSpPr/>
          <p:nvPr/>
        </p:nvSpPr>
        <p:spPr>
          <a:xfrm>
            <a:off x="6400800" y="5486400"/>
            <a:ext cx="237744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37960" y="5486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L0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center only</a:t>
            </a:r>
            <a:endParaRPr lang="en-US" sz="1300" dirty="0"/>
          </a:p>
        </p:txBody>
      </p:sp>
      <p:sp>
        <p:nvSpPr>
          <p:cNvPr id="7" name="ladder L1"/>
          <p:cNvSpPr/>
          <p:nvPr/>
        </p:nvSpPr>
        <p:spPr>
          <a:xfrm>
            <a:off x="6400800" y="4709160"/>
            <a:ext cx="306324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47091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L1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center + population (published-style)</a:t>
            </a:r>
            <a:endParaRPr lang="en-US" sz="1300" dirty="0"/>
          </a:p>
        </p:txBody>
      </p:sp>
      <p:sp>
        <p:nvSpPr>
          <p:cNvPr id="9" name="ladder ISO"/>
          <p:cNvSpPr/>
          <p:nvPr/>
        </p:nvSpPr>
        <p:spPr>
          <a:xfrm>
            <a:off x="6400800" y="3931920"/>
            <a:ext cx="374904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3931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ISO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isotropic scatter</a:t>
            </a:r>
            <a:endParaRPr lang="en-US" sz="1300" dirty="0"/>
          </a:p>
        </p:txBody>
      </p:sp>
      <p:sp>
        <p:nvSpPr>
          <p:cNvPr id="11" name="ladder DIAG"/>
          <p:cNvSpPr/>
          <p:nvPr/>
        </p:nvSpPr>
        <p:spPr>
          <a:xfrm>
            <a:off x="6400800" y="3154680"/>
            <a:ext cx="443484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315468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DIAG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diagonal scatter</a:t>
            </a:r>
            <a:endParaRPr lang="en-US" sz="1300" dirty="0"/>
          </a:p>
        </p:txBody>
      </p:sp>
      <p:sp>
        <p:nvSpPr>
          <p:cNvPr id="13" name="ladder FULL / L3"/>
          <p:cNvSpPr/>
          <p:nvPr/>
        </p:nvSpPr>
        <p:spPr>
          <a:xfrm>
            <a:off x="6400800" y="2377440"/>
            <a:ext cx="5120640" cy="640080"/>
          </a:xfrm>
          <a:prstGeom prst="roundRect">
            <a:avLst>
              <a:gd name="adj" fmla="val 8571"/>
            </a:avLst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2377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FULL / L3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full scatter ≡ RAW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Session 8 gate: the 23° error was deletion, not geometry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583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FULL arm (A7 angle definition)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θ vs RAW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θ vs RAW on retained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Partition path, shared c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0.000°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16.4°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Partition path, RAW held-out c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0.000°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15.0°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D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Deletion path, shared c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16.8°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0.000°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Deletion path, RAW held-out c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15.5°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0.000°</a:t>
                      </a:r>
                      <a:endParaRPr lang="en-US" sz="13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3716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2194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 training samples are silently dropped by the n&lt;2 deletion step (up to 49% on heart)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3291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 F1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4114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points lost to that deletion alone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earlier comparison against RAW mixed compression with deletion and c mismatch. The partition path reproduces RAW to machine precision.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Center-only error grows with discarded variance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400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0" y="1463040"/>
            <a:ext cx="4297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η = discarded within-ball variance / class variance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 ρ goes 0.6 → 1.0, η falls 0.81 → 0.12 and θ_L1 falls 62° → 17°.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Spearman(θ_L1, η) = 0.75 (p = 2e-19); positive in 17/17 datasets.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Closed form: z_L1 = (I + M_L1⁻¹ΔM) z_RAW.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DIAG ≪ ISO in both scalings: where restored mass goes matters.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With leak-free tuning, scatter restoration helps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400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0" y="1463040"/>
            <a:ext cx="42976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Earlier tuning scored validation rows that had been inside the fitted balls; we now re-granulate per fold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D_FULL − D_L1 = +0.048 F1 (Holm p = 0.018, 14/17 wins)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Published GBLSTSVM is 0.071 below RAW (Holm p = 0.03)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Granulation costs ~180 ms per fit vs 0.26 ms for the exact RAW solve (~700×)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Kernel pilot and the prediction-rule gap</a:t>
            </a:r>
            <a:endParaRPr lang="en-US" sz="3200" dirty="0"/>
          </a:p>
        </p:txBody>
      </p:sp>
      <p:sp>
        <p:nvSpPr>
          <p:cNvPr id="3" name="card Kernel pilot (RBF, 17 × 5 seeds)"/>
          <p:cNvSpPr/>
          <p:nvPr/>
        </p:nvSpPr>
        <p:spPr>
          <a:xfrm>
            <a:off x="548640" y="1371600"/>
            <a:ext cx="548640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2763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Kernel pilot (RBF, 17 × 5 seeds)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ladder replicates in feature space: L0 &lt; L1 ≈ MEAN &lt; EXACT ≈ RAW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EXACT − L1 = +0.017 F1 (Holm p = 0.03)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k-means landmarks with the same k match granular balls (Δ F1 = +0.0005)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 n ≤ 3.2k, granulation alone costs more than the full O(n³) RAW kernel fit</a:t>
            </a:r>
            <a:endParaRPr lang="en-US" sz="1400" dirty="0"/>
          </a:p>
        </p:txBody>
      </p:sp>
      <p:sp>
        <p:nvSpPr>
          <p:cNvPr id="7" name="card Paper rule vs reference code"/>
          <p:cNvSpPr/>
          <p:nvPr/>
        </p:nvSpPr>
        <p:spPr>
          <a:xfrm>
            <a:off x="630936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27632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Paper rule vs reference code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011680"/>
            <a:ext cx="48463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published decision rule and the repository rule disagree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Disagreement tracks |log ‖w₁‖/‖w₂‖| (Spearman 0.58 unscaled, 0.76 standardized)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 choice moves RAW F1 by ≈0.10 (0.785 vs 0.685), more than any representation effect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Engineering work behind the results</a:t>
            </a:r>
            <a:endParaRPr lang="en-US" sz="3200" dirty="0"/>
          </a:p>
        </p:txBody>
      </p:sp>
      <p:sp>
        <p:nvSpPr>
          <p:cNvPr id="3" name="card Reproducible pipeline"/>
          <p:cNvSpPr/>
          <p:nvPr/>
        </p:nvSpPr>
        <p:spPr>
          <a:xfrm>
            <a:off x="54864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2763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508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Reproducible pipeline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Frozen protocols, 17-dataset registry, seeds 0–9, Wilcoxon + bootstrap + Holm correction</a:t>
            </a:r>
            <a:endParaRPr lang="en-US" sz="1400" dirty="0"/>
          </a:p>
        </p:txBody>
      </p:sp>
      <p:sp>
        <p:nvSpPr>
          <p:cNvPr id="7" name="card New modules"/>
          <p:cNvSpPr/>
          <p:nvPr/>
        </p:nvSpPr>
        <p:spPr>
          <a:xfrm>
            <a:off x="6172200" y="13716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62763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20840" y="1508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New modules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01168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ladder_gblstsvm, margin_multigranularity, svm_aware_granulation; unit tests for each</a:t>
            </a:r>
            <a:endParaRPr lang="en-US" sz="1400" dirty="0"/>
          </a:p>
        </p:txBody>
      </p:sp>
      <p:sp>
        <p:nvSpPr>
          <p:cNvPr id="11" name="card Bug fixes"/>
          <p:cNvSpPr/>
          <p:nvPr/>
        </p:nvSpPr>
        <p:spPr>
          <a:xfrm>
            <a:off x="548640" y="370332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95935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8404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Bug fixes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4340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pandas 3 dtype check silently dropped 5 of 17 datasets; in-sample validation leak removed</a:t>
            </a:r>
            <a:endParaRPr lang="en-US" sz="1400" dirty="0"/>
          </a:p>
        </p:txBody>
      </p:sp>
      <p:sp>
        <p:nvSpPr>
          <p:cNvPr id="15" name="card Documentation"/>
          <p:cNvSpPr/>
          <p:nvPr/>
        </p:nvSpPr>
        <p:spPr>
          <a:xfrm>
            <a:off x="6172200" y="370332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959352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38404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Documentation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343400"/>
            <a:ext cx="4983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Eight session write-ups with hypotheses, verdicts and handoffs, plus the research proposal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the thesis stands</a:t>
            </a:r>
            <a:endParaRPr lang="en-US" sz="3200" dirty="0"/>
          </a:p>
        </p:txBody>
      </p:sp>
      <p:sp>
        <p:nvSpPr>
          <p:cNvPr id="3" name="card Holds"/>
          <p:cNvSpPr/>
          <p:nvPr/>
        </p:nvSpPr>
        <p:spPr>
          <a:xfrm>
            <a:off x="548640" y="1371600"/>
            <a:ext cx="548640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27632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508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Holds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5029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Count, mean and scatter per ball give the exact LSTSVM solution (θ = 0.000°)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Center-only error is directional, has a closed form and scales with η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DIAG/FULL ≫ ISO, explained by scatter anisotropy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Scatter restoration improves held-out F1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rule discrepancy is driven by the norm ratio</a:t>
            </a:r>
            <a:endParaRPr lang="en-US" sz="1400" dirty="0"/>
          </a:p>
        </p:txBody>
      </p:sp>
      <p:sp>
        <p:nvSpPr>
          <p:cNvPr id="7" name="card Revised or dropped"/>
          <p:cNvSpPr/>
          <p:nvPr/>
        </p:nvSpPr>
        <p:spPr>
          <a:xfrm>
            <a:off x="630936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27632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Revised or dropped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011680"/>
            <a:ext cx="484632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A7 angle numbers (23°/38°/52°): contaminated by deletion and c mismatch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"ISO is worse than restoring nothing": depends on coordinates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"No classification advantage for scatter": an in-sample tuning artifact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A4/A6 classification tables: to be re-run held-out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Plan for the second half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417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Re-run A4/A6 with the held-out protocol for the paper tables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722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14173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Report angles in standardized coordinates, unscaled as robustness check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8803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Plot θ_L1 against η across 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3017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8803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Predict θ from ‖M_L1⁻¹ΔM‖ before fitting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3434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Optional: one large kernel dataset (n ≈ 20k) to settle compute cost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44805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43434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the analytical paper: linear core plus kernel section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Recommendation: an analytical paper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In the linear case GBLSTSVM is a lossy, deletion-affected approximation of an exact estimator that is ~700× cheaper. In the kernel case the same ladder holds, but granular balls offer no edge over k-means landmarks.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BLSTSVM Midsem">
  <a:themeElements>
    <a:clrScheme name="GBLSTSVM Midsem">
      <a:dk1>
        <a:srgbClr val="1B2430"/>
      </a:dk1>
      <a:lt1>
        <a:srgbClr val="FFFFFF"/>
      </a:lt1>
      <a:dk2>
        <a:srgbClr val="14324A"/>
      </a:dk2>
      <a:lt2>
        <a:srgbClr val="EEF3F6"/>
      </a:lt2>
      <a:accent1>
        <a:srgbClr val="1F6F8B"/>
      </a:accent1>
      <a:accent2>
        <a:srgbClr val="E07A3F"/>
      </a:accent2>
      <a:accent3>
        <a:srgbClr val="5C9E74"/>
      </a:accent3>
      <a:accent4>
        <a:srgbClr val="B84A4A"/>
      </a:accent4>
      <a:accent5>
        <a:srgbClr val="7A8B99"/>
      </a:accent5>
      <a:accent6>
        <a:srgbClr val="C9A227"/>
      </a:accent6>
      <a:hlink>
        <a:srgbClr val="1F6F8B"/>
      </a:hlink>
      <a:folHlink>
        <a:srgbClr val="5C6B78"/>
      </a:folHlink>
    </a:clrScheme>
    <a:fontScheme name="GBLSTSVM Mids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GBLSTSVM Extensions: Midsem Progress Report</dc:title>
  <dc:subject>PptxGenJS Presentation</dc:subject>
  <dc:creator>PptxGenJS</dc:creator>
  <cp:lastModifiedBy>PptxGenJS</cp:lastModifiedBy>
  <cp:revision>1</cp:revision>
  <dcterms:created xsi:type="dcterms:W3CDTF">2026-10-23T19:51:27Z</dcterms:created>
  <dcterms:modified xsi:type="dcterms:W3CDTF">2026-10-23T19:51:27Z</dcterms:modified>
</cp:coreProperties>
</file>